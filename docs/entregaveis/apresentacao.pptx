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(qualquer integrante). Apresentar o trabalho: um simulador que recebe um conjunto de processos e mostra como cada um dos sete algoritmos de escalonamento pedidos no enunciado distribui a CPU. A faixa colorida é a linha do tempo do Round-Robin no exemplo do enunciado, que vai aparecer várias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antes de entrar nos detalhes. O programa recebe os processos pela entrada padrão, com instante de criação, duração e prioridade de cada um, e um arquivo com o quantum e a taxa de aging. Com essa mesma entrada, executa os sete algoritmos e, para cada um, calcula turnaround médio, espera média e trocas de contexto e gera o diagrama de tempo. Há duas formas de uso: pelo terminal e por uma interface gráfica em Swing, que usa o mesmo núcleo de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da entrada é um processo: instante de criação, duração em segundos e prioridade estática (maior número = maior prioridade). P1 é a primeira linha, P2 a segunda, e assim por diante. Todos os exemplos a seguir usam esta entrada, com quantum 2 e aging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 Vou mostrar como representamos um processo, quais são os sete algoritmos, como resolvemos empates e como cada algoritmo se comporta no exemplo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sugere uma estrutura de controle por processo. A nossa é a classe ProcessControlBlock. Os quatro primeiros campos nunca mudam; os demais mudam durante a simulação, e só por métodos de transição que validam o estado de origem. Se um algoritmo tentar, por exemplo, executar um processo que não está em RUNNING, o programa lança exceção, e o erro aparece nos testes em vez de gerar um resultado errado em silêncio. Não existe estado bloqueado porque o enunciado não modela entrada e saída. Cada algoritmo trabalha sobre cópias dos processos, então os sete recebem exatamente a mesma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algoritmos do enunciado. Três grupos: os não preemptivos (FCFS, SJF e prioridade), que escolhem uma vez e executam até o fim; os preemptivos (SRTF e prioridade preemptiva, em cinza), que reavaliam a decisão a cada segundo; e os dois Round-Robin (em azul), que só decidem no fim de cada quantum. Na fila de prontos usamos ArrayList porque a seleção percorre todos os candidatos e aplica os critérios de desempate de forma explícita. No Round-Robin simples, a ordem da fila é a própria regra, por isso usamos ArrayDeque. Decidimos não criar uma interface comum com laço genérico: seria menos código, mas esconderia justamente as diferenças que queremos mostrar.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define a ordem de desempate e todos os nossos algoritmos a seguem. Primeiro, o processo que já está com a CPU, para evitar troca de contexto. Implementamos isso exigindo que o candidato seja estritamente melhor para interromper quem está executando. Segundo, o menor tempo restante. Por último, sorteio. Para o sorteio ser reproduzível, ordenamos os candidatos pelo identificador antes de sortear; nos testes a semente é fixa em zero e, na execução normal, é aleatória. Na interface também dá para fixar a semente e repetir uma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não preemptivos seguem o mesmo esqueleto: admitem os processos que já chegaram, escolhem o melhor segundo o critério e executam até o fim. Chegadas durante a execução só entram na fila. No FCFS, P1 e P2 chegam juntos; o desempate pelo menor tempo restante coloca P2 primeiro. No SJF, os curtos passam na frente e P1 termina por último. Na prioridade sem preempção, P4, com prioridade 4, chega em t = 3, mas precisa esperar P1 terminar em t =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preemptivos, o processo em execução fica numa variável separada da fila de prontos, e a cada segundo comparamos: existe alguém estritamente melhor? Se sim, há preempção e o processo volta para a fila. No SRTF, em t = 3 P4 chega com 3 segundos e P3 também tem 3 restantes; como é empate, P3 continua, que é o primeiro critério de desempate. Na prioridade preemptiva, P4 tem prioridade 4, maior que a de P1, e o interrompe imediatamente; P1 só volta em t = 6. Por isso esse algoritmo tem uma troca de contexto a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Round-Robin simples, a cabeça da fila executa por até um quantum e, se não terminar, volta ao final. Um detalhe: quem chega exatamente no fim do quantum entra na fila antes do processo que está saindo. A sequência gerada é idêntica ao diagrama de exemplo do enunciado. Na versão com prioridade, a escolha só acontece no fim de cada quantum, sem preempção por prioridade no meio, como pede o enunciado. Ao fim de cada quantum completo, todos que estão esperando ganham aging; o processo escolhido volta à prioridade estática, como nas notas de aula. O enunciado deixava alguns pontos em aberto, por exemplo o que acontece quando o processo termina exatamente no limite do quantum. Registramos essas decisões num documento de decisões (ADR 0004) e conferimos cada uma contra o caso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 Para cada algoritmo, o enunciado pede três métricas e o diagrama de tempo. Vou definir cada métrica, calcular um exemplo e comparar os sete algoritmos.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Turnaround é o tempo de vida: conclusão menos criação. Espera é o tempo em que o processo estava pronto sem estar na CPU: turnaround menos duração. Como não há entrada e saída, essa é toda a espera. Para trocas de contexto, o enunciado não diz exatamente o que conta, então registramos uma definição objetiva: só a substituição direta de um processo por outro. Carregar o primeiro processo e as transições com a CPU ociosa não contam. As médias são calculadas sem arredondar; só a apresentação usa duas casas.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exemplo com o FCFS. A linha do tempo é P2 de 0 a 2, P1 até 7, P3 até 11 e P4 até 14. P3 foi criado em 1, dura 4 e termina em 11: turnaround 10 e espera 6. Fazendo o mesmo para os quatro processos, as médias são 7,50 e 4,00. As trocas de contexto são as três fronteiras entre processos diferentes: em t = 2, t = 7 e t = 11. O primeiro processo carregado em t = 0 não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números que o simulador produz para a entrada do enunciado. SJF e SRTF empatam com as menores médias de turnaround e espera. Neste exemplo o SRTF nunca chega a interromper ninguém, por isso os dois coincidem. O pior turnaround é o do Round-Robin, que também tem mais trocas de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observações sobre a tabela. Primeiro, executar os processos curtos antes minimiza o turnaround médio; o SRTF é ótimo para essa métrica. Segundo, o Round-Robin reveza a CPU, o que é mais justo e dá resposta mais rápida em sistemas interativos, mas custa mais trocas de contexto e piora o turnaround. Terceiro, o aging evita a inanição: P3 tem a menor prioridade e, nos algoritmos de prioridade sem aging, só recebe a CPU em t = 10; com aging, recebe em t =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 A interface visual era opcional no enunciado. Fizemos em Swing, que já vem no JDK, então ela roda com o mesmo comando do projeto e sem nenhuma dependência extra. Vou mostrar a tela principal e depois cada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janela completa. À esquerda fica a entrada: a tabela de processos e a configuração. À direita ficam os resultados, com uma aba de comparação e uma aba para cada algoritmo; aqui está aberta a do Round-Robin. A janela já abre com o exemplo do enunciado simulado, então dá para começar a apresentação direto por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de entrada. Os processos são editados direto na tabela: criação, duração e prioridade. Os botões adicionam, removem, limpam ou recarregam o exemplo do enunciado, e o menu Arquivo importa arquivos nos mesmos formatos do terminal. Um ponto importante: a tabela é validada pelo mesmo código da linha de comando, então as regras e as mensagens de erro são as mesmas. Abaixo ficam quantum, aging e a opção de semente fixa para os desempates.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aba compara os sete algoritmos: são os mesmos números da tabela da parte 2, agora calculados na hora para qualquer entrada. O melhor valor de cada coluna aparece em negrito; aqui, SJF e SRTF. O gráfico mostra turnaround e espera na mesma escala, e fica evidente o Round-Robin com a barra mais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algoritmo tem uma aba com o mesmo layout; vou usar o Round-Robin como exemplo. No topo ficam o nome, uma frase com a regra do algoritmo e as quatro métricas em cartões: turnaround médio, espera média, trocas de contexto e tempo total. Embaixo, a tabela por processo mostra conclusão, turnaround e espera de cada um; aqui P2 é o que menos espera, com 2 segundos. No meio fica o diagrama de Gantt, que vem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Gantt é o centro da interface. Cada processo tem uma linha: cor cheia quando executa, faixa cinza quando está pronto esperando, e um triângulo marcando a criação. Em branco, o processo ainda não existe ou já terminou, a mesma notação do diagrama do enunciado. A última linha mostra a CPU segundo a segundo, com o processo que a ocupa ou "ocioso". Dá para ler toda a política do Round-Robin: cada processo recebe 2 segundos e volta para o fim da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pode ser exibido por partes, o que ajuda a explicar cada decisão do algoritmo. Aqui ele está mostrado até t = 9: dá para ver P4 recebendo a CPU pela primeira vez em t = 8, depois de esperar desde t = 3, enquanto P1 e P3 aguardam a próxima vez. O botão Passo avança um segundo, Reiniciar volta ao início e Mostrar tudo exibe a execução completa. Nada é recalculado: a interface só exibe a linha do tempo que o simulador já produziu.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dentro: a interface não tem nenhuma regra de escalonamento. Os dados da tabela passam pelos mesmos parsers do terminal, a simulação é feita pelo mesmo núcleo que roda os sete algoritmos e calcula as métricas, e a janela apenas apresenta o resultado. Por isso terminal e interface sempre concordam. Usamos Swing porque já faz parte do JDK: não há dependência extra e roda na máquina do professor com o mesmo Gradle.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O primeiro comando roda a versão de terminal, com a configuração como argumento e os processos pela entrada padrão; o segundo abre a interface. Só é preciso ter o JDK 21, porque o Gradle vem junto no projeto. O documento técnico no repositório explica classes, estruturas de dados e decisões.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4521"/>
            <a:ext cx="10566400" cy="417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DB8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CK0234 · SISTEMAS OPERACIONAIS · TRABALHO 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95550"/>
            <a:ext cx="915670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Simulador de Escalonamento de Processos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2451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Marcos Vinicius Pereira Araujo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Tiago Melo Jucá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Vitor Nogueira de Sousa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5791200"/>
            <a:ext cx="555149" cy="177800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/>
        </p:spPr>
      </p:sp>
      <p:sp>
        <p:nvSpPr>
          <p:cNvPr id="6" name="Shape 4"/>
          <p:cNvSpPr/>
          <p:nvPr/>
        </p:nvSpPr>
        <p:spPr>
          <a:xfrm>
            <a:off x="7895749" y="5791200"/>
            <a:ext cx="555228" cy="177800"/>
          </a:xfrm>
          <a:prstGeom prst="roundRect">
            <a:avLst>
              <a:gd name="adj" fmla="val 14286"/>
            </a:avLst>
          </a:prstGeom>
          <a:solidFill>
            <a:srgbClr val="D62728"/>
          </a:solidFill>
          <a:ln/>
        </p:spPr>
      </p:sp>
      <p:sp>
        <p:nvSpPr>
          <p:cNvPr id="7" name="Shape 5"/>
          <p:cNvSpPr/>
          <p:nvPr/>
        </p:nvSpPr>
        <p:spPr>
          <a:xfrm>
            <a:off x="8476377" y="5791200"/>
            <a:ext cx="555149" cy="177800"/>
          </a:xfrm>
          <a:prstGeom prst="roundRect">
            <a:avLst>
              <a:gd name="adj" fmla="val 14286"/>
            </a:avLst>
          </a:prstGeom>
          <a:solidFill>
            <a:srgbClr val="2CA02C"/>
          </a:solidFill>
          <a:ln/>
        </p:spPr>
      </p:sp>
      <p:sp>
        <p:nvSpPr>
          <p:cNvPr id="8" name="Shape 6"/>
          <p:cNvSpPr/>
          <p:nvPr/>
        </p:nvSpPr>
        <p:spPr>
          <a:xfrm>
            <a:off x="9056925" y="5791200"/>
            <a:ext cx="555228" cy="177800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/>
        </p:spPr>
      </p:sp>
      <p:sp>
        <p:nvSpPr>
          <p:cNvPr id="9" name="Shape 7"/>
          <p:cNvSpPr/>
          <p:nvPr/>
        </p:nvSpPr>
        <p:spPr>
          <a:xfrm>
            <a:off x="9637554" y="5791200"/>
            <a:ext cx="555149" cy="177800"/>
          </a:xfrm>
          <a:prstGeom prst="roundRect">
            <a:avLst>
              <a:gd name="adj" fmla="val 14286"/>
            </a:avLst>
          </a:prstGeom>
          <a:solidFill>
            <a:srgbClr val="9467BD"/>
          </a:solidFill>
          <a:ln/>
        </p:spPr>
      </p:sp>
      <p:sp>
        <p:nvSpPr>
          <p:cNvPr id="10" name="Shape 8"/>
          <p:cNvSpPr/>
          <p:nvPr/>
        </p:nvSpPr>
        <p:spPr>
          <a:xfrm>
            <a:off x="10218103" y="5791200"/>
            <a:ext cx="555149" cy="177800"/>
          </a:xfrm>
          <a:prstGeom prst="roundRect">
            <a:avLst>
              <a:gd name="adj" fmla="val 14286"/>
            </a:avLst>
          </a:prstGeom>
          <a:solidFill>
            <a:srgbClr val="2CA02C"/>
          </a:solidFill>
          <a:ln/>
        </p:spPr>
      </p:sp>
      <p:sp>
        <p:nvSpPr>
          <p:cNvPr id="11" name="Shape 9"/>
          <p:cNvSpPr/>
          <p:nvPr/>
        </p:nvSpPr>
        <p:spPr>
          <a:xfrm>
            <a:off x="10798652" y="5791200"/>
            <a:ext cx="277574" cy="177800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01625" y="5791200"/>
            <a:ext cx="277574" cy="177800"/>
          </a:xfrm>
          <a:prstGeom prst="roundRect">
            <a:avLst>
              <a:gd name="adj" fmla="val 14286"/>
            </a:avLst>
          </a:prstGeom>
          <a:solidFill>
            <a:srgbClr val="9467B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4160"/>
            <a:ext cx="91567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simulador de escalonamento de processos em Java 21. Ele lê um conjunto de processos, executa os sete algoritmos sobre a mesma entrada e mostra as métricas e o diagrama de tempo de cada 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2289175"/>
            <a:ext cx="2520950" cy="1855470"/>
          </a:xfrm>
          <a:prstGeom prst="roundRect">
            <a:avLst>
              <a:gd name="adj" fmla="val 53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49428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Entrada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080" y="2783840"/>
            <a:ext cx="217406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Processos pela entrada padrão: criação, duração e prioridade. Quantum e aging em um arquivo de configuração.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2289175"/>
            <a:ext cx="2520950" cy="1855470"/>
          </a:xfrm>
          <a:prstGeom prst="roundRect">
            <a:avLst>
              <a:gd name="adj" fmla="val 53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249428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Algoritmos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0780" y="2783840"/>
            <a:ext cx="217406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FCFS, SJF, SRTF, prioridade com e sem preempção, Round-Robin e Round-Robin com prioridade e aging.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2289175"/>
            <a:ext cx="2520950" cy="1855470"/>
          </a:xfrm>
          <a:prstGeom prst="roundRect">
            <a:avLst>
              <a:gd name="adj" fmla="val 53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249428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Saída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80480" y="2783840"/>
            <a:ext cx="217406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cada algoritmo: turnaround médio, espera média, trocas de contexto e diagrama de tempo.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2289175"/>
            <a:ext cx="2520950" cy="1855470"/>
          </a:xfrm>
          <a:prstGeom prst="roundRect">
            <a:avLst>
              <a:gd name="adj" fmla="val 53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249428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Interface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60180" y="2783840"/>
            <a:ext cx="217406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 em Swing que roda a mesma simulação e mostra os resultados de cada algoritmo.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40182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21 · Gradle · JUnit 5 · Swing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Simulador de Escalonamento de Processos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usado na apresentação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61"/>
            <a:ext cx="85026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entrada do enunciado: quatro processos lidos da entrada padrão, com quantum e aging lidos de um arquivo de configuração.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387600"/>
            <a:ext cx="14456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processos (stdin)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702561"/>
            <a:ext cx="1204674" cy="1727200"/>
          </a:xfrm>
          <a:prstGeom prst="roundRect">
            <a:avLst>
              <a:gd name="adj" fmla="val 6325"/>
            </a:avLst>
          </a:prstGeom>
          <a:solidFill>
            <a:srgbClr val="EAE8E1"/>
          </a:solidFill>
          <a:ln/>
        </p:spPr>
        <p:txBody>
          <a:bodyPr wrap="none" lIns="231682" tIns="155482" rIns="180882" bIns="130082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0 5 2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0 2 3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1 4 1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3 3 4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22274" y="2387600"/>
            <a:ext cx="17947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config.txt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22274" y="2702561"/>
            <a:ext cx="1742440" cy="1041400"/>
          </a:xfrm>
          <a:prstGeom prst="roundRect">
            <a:avLst>
              <a:gd name="adj" fmla="val 7317"/>
            </a:avLst>
          </a:prstGeom>
          <a:solidFill>
            <a:srgbClr val="EAE8E1"/>
          </a:solidFill>
          <a:ln/>
        </p:spPr>
        <p:txBody>
          <a:bodyPr wrap="none" lIns="231682" tIns="155482" rIns="180882" bIns="130082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quantum:2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aging:1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9674" y="2397760"/>
          <a:ext cx="4815840" cy="2166620"/>
        </p:xfrm>
        <a:graphic>
          <a:graphicData uri="http://schemas.openxmlformats.org/drawingml/2006/table">
            <a:tbl>
              <a:tblPr/>
              <a:tblGrid>
                <a:gridCol w="963168"/>
                <a:gridCol w="1252118"/>
                <a:gridCol w="1252118"/>
                <a:gridCol w="1348435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Simulador de Escalonamento de Processos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986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DB8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TIAGO MELO JUCÁ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5562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 de escalonamento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48100"/>
            <a:ext cx="7848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Representação dos processos e funcionamento dos sete algoritmos.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7050" y="812800"/>
            <a:ext cx="19621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A3A5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Representação de um processo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3300" y="1823721"/>
            <a:ext cx="2286000" cy="426720"/>
          </a:xfrm>
          <a:custGeom>
            <a:avLst/>
            <a:gdLst/>
            <a:ahLst/>
            <a:cxnLst/>
            <a:rect l="l" t="t" r="r" b="b"/>
            <a:pathLst>
              <a:path w="2286000" h="426720">
                <a:moveTo>
                  <a:pt x="76200" y="0"/>
                </a:moveTo>
                <a:lnTo>
                  <a:pt x="2209800" y="0"/>
                </a:lnTo>
                <a:arcTo hR="76200" wR="76200" stAng="16200000" swAng="5400000"/>
                <a:lnTo>
                  <a:pt x="2286000" y="350520"/>
                </a:lnTo>
                <a:arcTo hR="76200" wR="76200" stAng="0" swAng="5400000"/>
                <a:lnTo>
                  <a:pt x="76200" y="426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EAE8E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</a:t>
            </a:r>
            <a:endParaRPr lang="en-US" sz="1400" dirty="0"/>
          </a:p>
        </p:txBody>
      </p:sp>
      <p:pic>
        <p:nvPicPr>
          <p:cNvPr id="5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57400" y="2313939"/>
            <a:ext cx="1778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2631439"/>
            <a:ext cx="2286000" cy="426720"/>
          </a:xfrm>
          <a:custGeom>
            <a:avLst/>
            <a:gdLst/>
            <a:ahLst/>
            <a:cxnLst/>
            <a:rect l="l" t="t" r="r" b="b"/>
            <a:pathLst>
              <a:path w="2286000" h="426720">
                <a:moveTo>
                  <a:pt x="76200" y="0"/>
                </a:moveTo>
                <a:lnTo>
                  <a:pt x="2209800" y="0"/>
                </a:lnTo>
                <a:arcTo hR="76200" wR="76200" stAng="16200000" swAng="5400000"/>
                <a:lnTo>
                  <a:pt x="2286000" y="350520"/>
                </a:lnTo>
                <a:arcTo hR="76200" wR="76200" stAng="0" swAng="5400000"/>
                <a:lnTo>
                  <a:pt x="76200" y="426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DCE8F5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READY</a:t>
            </a:r>
            <a:endParaRPr lang="en-US" sz="1400" dirty="0"/>
          </a:p>
        </p:txBody>
      </p:sp>
      <p:pic>
        <p:nvPicPr>
          <p:cNvPr id="7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57400" y="3121661"/>
            <a:ext cx="17780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3300" y="3439161"/>
            <a:ext cx="2286000" cy="426720"/>
          </a:xfrm>
          <a:custGeom>
            <a:avLst/>
            <a:gdLst/>
            <a:ahLst/>
            <a:cxnLst/>
            <a:rect l="l" t="t" r="r" b="b"/>
            <a:pathLst>
              <a:path w="2286000" h="426720">
                <a:moveTo>
                  <a:pt x="76200" y="0"/>
                </a:moveTo>
                <a:lnTo>
                  <a:pt x="2209800" y="0"/>
                </a:lnTo>
                <a:arcTo hR="76200" wR="76200" stAng="16200000" swAng="5400000"/>
                <a:lnTo>
                  <a:pt x="2286000" y="350520"/>
                </a:lnTo>
                <a:arcTo hR="76200" wR="76200" stAng="0" swAng="5400000"/>
                <a:lnTo>
                  <a:pt x="76200" y="426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1F66A8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RUNNING</a:t>
            </a:r>
            <a:endParaRPr lang="en-US" sz="1400" dirty="0"/>
          </a:p>
        </p:txBody>
      </p:sp>
      <p:pic>
        <p:nvPicPr>
          <p:cNvPr id="9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57400" y="3929382"/>
            <a:ext cx="1778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3300" y="4246882"/>
            <a:ext cx="2286000" cy="426720"/>
          </a:xfrm>
          <a:custGeom>
            <a:avLst/>
            <a:gdLst/>
            <a:ahLst/>
            <a:cxnLst/>
            <a:rect l="l" t="t" r="r" b="b"/>
            <a:pathLst>
              <a:path w="2286000" h="426720">
                <a:moveTo>
                  <a:pt x="76200" y="0"/>
                </a:moveTo>
                <a:lnTo>
                  <a:pt x="2209800" y="0"/>
                </a:lnTo>
                <a:arcTo hR="76200" wR="76200" stAng="16200000" swAng="5400000"/>
                <a:lnTo>
                  <a:pt x="2286000" y="350520"/>
                </a:lnTo>
                <a:arcTo hR="76200" wR="76200" stAng="0" swAng="5400000"/>
                <a:lnTo>
                  <a:pt x="76200" y="4267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EAE8E1"/>
          </a:solidFill>
          <a:ln/>
        </p:spPr>
        <p:txBody>
          <a:bodyPr wrap="square" lIns="0" tIns="88900" rIns="0" bIns="635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TERMINATED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38200" y="4737100"/>
            <a:ext cx="26162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volta a READY na preempção ou no fim do quantum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5560" y="1833881"/>
          <a:ext cx="7533640" cy="3211830"/>
        </p:xfrm>
        <a:graphic>
          <a:graphicData uri="http://schemas.openxmlformats.org/drawingml/2006/table">
            <a:tbl>
              <a:tblPr/>
              <a:tblGrid>
                <a:gridCol w="2260092"/>
                <a:gridCol w="1356055"/>
                <a:gridCol w="3917493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Campo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Muda?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Significado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P1, P2… na ordem das linhas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instante em que o processo surge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tempo total de CPU necessário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 estática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maior número = maior prioridade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tempo restante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quanto ainda falta executar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 dinâmica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recebe aging enquanto espera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NEW, READY, RUNNING, TERMINATED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conclusão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instante do término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 implementados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33881"/>
          <a:ext cx="10556240" cy="3068320"/>
        </p:xfrm>
        <a:graphic>
          <a:graphicData uri="http://schemas.openxmlformats.org/drawingml/2006/table">
            <a:tbl>
              <a:tblPr/>
              <a:tblGrid>
                <a:gridCol w="3272434"/>
                <a:gridCol w="2216810"/>
                <a:gridCol w="3166872"/>
                <a:gridCol w="1900123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Algoritmo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Preempção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Critério de seleção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Fila de prontos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FCFS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criação mais antiga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SJF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menor duração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SRTF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cada segundo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menor tempo restante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maior prioridade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 preemptiva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cada segundo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maior prioridade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Round-Robin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fim do quantum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cabeça da fila FIFO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ArrayDeque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RR com prioridade e aging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fim do quantum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maior prioridade dinâmica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ArrayList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5620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algoritmo tem o próprio laço no código: seleção, execução e preempção ficam visíveis, sem uma abstração genérica que esconda a regra.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Critérios de desempate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3380264" cy="2594610"/>
          </a:xfrm>
          <a:prstGeom prst="roundRect">
            <a:avLst>
              <a:gd name="adj" fmla="val 379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082800"/>
            <a:ext cx="295450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880" y="27940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já está na CPU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1880" y="3169921"/>
            <a:ext cx="2954507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Evita troca de contexto. Só há preempção diante de candidato estritamente melhor.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789" y="1826896"/>
            <a:ext cx="3380343" cy="2594610"/>
          </a:xfrm>
          <a:prstGeom prst="roundRect">
            <a:avLst>
              <a:gd name="adj" fmla="val 379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1694" y="2082800"/>
            <a:ext cx="295458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61694" y="27940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Menor tempo restante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1694" y="3169921"/>
            <a:ext cx="295458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Segundo filtro, aplicado somente aos processos que continuam empatados.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682" y="1826896"/>
            <a:ext cx="3380343" cy="2594610"/>
          </a:xfrm>
          <a:prstGeom prst="roundRect">
            <a:avLst>
              <a:gd name="adj" fmla="val 379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1587" y="2082800"/>
            <a:ext cx="295458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51587" y="27940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1587" y="3169921"/>
            <a:ext cx="2954589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Escolha aleatória com java.util.Random. Nos testes, semente fixa para resultados reproduzíveis.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6786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Round-Robin a ordem da fila decide, então não há empate a resolver.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 não preemptivos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3380264" cy="2762250"/>
          </a:xfrm>
          <a:prstGeom prst="roundRect">
            <a:avLst>
              <a:gd name="adj" fmla="val 356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1981200"/>
            <a:ext cx="31638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FCFS</a:t>
            </a:r>
            <a:endParaRPr lang="en-US" sz="1800" dirty="0"/>
          </a:p>
        </p:txBody>
      </p:sp>
      <p:pic>
        <p:nvPicPr>
          <p:cNvPr id="6" name="Image 0" descr="Diagrama de Gantt do FCFS no exemplo do enunciado: P2, P1, P3, P4">    </p:cNvPr>
          <p:cNvPicPr>
            <a:picLocks noChangeAspect="1"/>
          </p:cNvPicPr>
          <p:nvPr/>
        </p:nvPicPr>
        <p:blipFill>
          <a:blip r:embed="rId1"/>
          <a:srcRect l="0" r="0" t="-11" b="-11"/>
          <a:stretch/>
        </p:blipFill>
        <p:spPr>
          <a:xfrm>
            <a:off x="970280" y="2357121"/>
            <a:ext cx="3073400" cy="1282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280" y="3741421"/>
            <a:ext cx="316380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Ordem de criação. P1 e P2 chegam juntos em t = 0: P2 vence por ter menos tempo restante.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789" y="1826896"/>
            <a:ext cx="3380343" cy="2762250"/>
          </a:xfrm>
          <a:prstGeom prst="roundRect">
            <a:avLst>
              <a:gd name="adj" fmla="val 356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60094" y="1981200"/>
            <a:ext cx="31638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SJF</a:t>
            </a:r>
            <a:endParaRPr lang="en-US" sz="1800" dirty="0"/>
          </a:p>
        </p:txBody>
      </p:sp>
      <p:pic>
        <p:nvPicPr>
          <p:cNvPr id="10" name="Image 1" descr="Diagrama de Gantt do SJF: P2, P3, P4, P1">    </p:cNvPr>
          <p:cNvPicPr>
            <a:picLocks noChangeAspect="1"/>
          </p:cNvPicPr>
          <p:nvPr/>
        </p:nvPicPr>
        <p:blipFill>
          <a:blip r:embed="rId2"/>
          <a:srcRect l="0" r="0" t="-11" b="-11"/>
          <a:stretch/>
        </p:blipFill>
        <p:spPr>
          <a:xfrm>
            <a:off x="4560094" y="2357121"/>
            <a:ext cx="3073400" cy="1282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0094" y="3741421"/>
            <a:ext cx="316388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Menor duração entre os prontos. P1, o mais longo, fica para o final.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682" y="1826896"/>
            <a:ext cx="3380343" cy="2762250"/>
          </a:xfrm>
          <a:prstGeom prst="roundRect">
            <a:avLst>
              <a:gd name="adj" fmla="val 3563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49987" y="1981200"/>
            <a:ext cx="31638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Prioridade</a:t>
            </a:r>
            <a:endParaRPr lang="en-US" sz="1800" dirty="0"/>
          </a:p>
        </p:txBody>
      </p:sp>
      <p:pic>
        <p:nvPicPr>
          <p:cNvPr id="14" name="Image 2" descr="Diagrama de Gantt da prioridade sem preempção: P2, P1, P4, P3">    </p:cNvPr>
          <p:cNvPicPr>
            <a:picLocks noChangeAspect="1"/>
          </p:cNvPicPr>
          <p:nvPr/>
        </p:nvPicPr>
        <p:blipFill>
          <a:blip r:embed="rId3"/>
          <a:srcRect l="0" r="0" t="-11" b="-11"/>
          <a:stretch/>
        </p:blipFill>
        <p:spPr>
          <a:xfrm>
            <a:off x="8149987" y="2357121"/>
            <a:ext cx="3073400" cy="1282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49987" y="3741421"/>
            <a:ext cx="316388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Maior prioridade estática. P4 chega em t = 3, mas espera P1 terminar.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 preemptivos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5175250" cy="3347720"/>
          </a:xfrm>
          <a:prstGeom prst="roundRect">
            <a:avLst>
              <a:gd name="adj" fmla="val 2940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06600"/>
            <a:ext cx="496031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SRTF</a:t>
            </a:r>
            <a:endParaRPr lang="en-US" sz="1800" dirty="0"/>
          </a:p>
        </p:txBody>
      </p:sp>
      <p:pic>
        <p:nvPicPr>
          <p:cNvPr id="6" name="Image 0" descr="Diagrama de Gantt do SRTF: P2, P3, P4, P1">    </p:cNvPr>
          <p:cNvPicPr>
            <a:picLocks noChangeAspect="1"/>
          </p:cNvPicPr>
          <p:nvPr/>
        </p:nvPicPr>
        <p:blipFill>
          <a:blip r:embed="rId1"/>
          <a:srcRect l="-19" r="-19" t="0" b="0"/>
          <a:stretch/>
        </p:blipFill>
        <p:spPr>
          <a:xfrm>
            <a:off x="995680" y="2382521"/>
            <a:ext cx="4826000" cy="2012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5680" y="4497071"/>
            <a:ext cx="49603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 = 3, P4 (3 s) empata com P3 (3 s restantes). P3 continua: quem está na CPU vence o empate.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1826896"/>
            <a:ext cx="5175250" cy="3347720"/>
          </a:xfrm>
          <a:prstGeom prst="roundRect">
            <a:avLst>
              <a:gd name="adj" fmla="val 2940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0480" y="2006600"/>
            <a:ext cx="496031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Prioridade preemptiva</a:t>
            </a:r>
            <a:endParaRPr lang="en-US" sz="1800" dirty="0"/>
          </a:p>
        </p:txBody>
      </p:sp>
      <p:pic>
        <p:nvPicPr>
          <p:cNvPr id="10" name="Image 1" descr="Diagrama de Gantt da prioridade preemptiva: P2, P1, P4, P1, P3">    </p:cNvPr>
          <p:cNvPicPr>
            <a:picLocks noChangeAspect="1"/>
          </p:cNvPicPr>
          <p:nvPr/>
        </p:nvPicPr>
        <p:blipFill>
          <a:blip r:embed="rId2"/>
          <a:srcRect l="-19" r="-19" t="0" b="0"/>
          <a:stretch/>
        </p:blipFill>
        <p:spPr>
          <a:xfrm>
            <a:off x="6380480" y="2382521"/>
            <a:ext cx="4826000" cy="2012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0480" y="4497071"/>
            <a:ext cx="49603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 = 3, P4 (prioridade 4) chega e interrompe P1 na hora. P1 volta em t = 6.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Round-Robin (quantum =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5175250" cy="3347720"/>
          </a:xfrm>
          <a:prstGeom prst="roundRect">
            <a:avLst>
              <a:gd name="adj" fmla="val 2940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06600"/>
            <a:ext cx="496031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Round-Robin</a:t>
            </a:r>
            <a:endParaRPr lang="en-US" sz="1800" dirty="0"/>
          </a:p>
        </p:txBody>
      </p:sp>
      <p:pic>
        <p:nvPicPr>
          <p:cNvPr id="6" name="Image 0" descr="Diagrama de Gantt do Round-Robin: P1, P2, P3, P1, P4, P3, P1, P4">    </p:cNvPr>
          <p:cNvPicPr>
            <a:picLocks noChangeAspect="1"/>
          </p:cNvPicPr>
          <p:nvPr/>
        </p:nvPicPr>
        <p:blipFill>
          <a:blip r:embed="rId1"/>
          <a:srcRect l="-19" r="-19" t="0" b="0"/>
          <a:stretch/>
        </p:blipFill>
        <p:spPr>
          <a:xfrm>
            <a:off x="995680" y="2382521"/>
            <a:ext cx="4826000" cy="2012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5680" y="4497071"/>
            <a:ext cx="49603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 FIFO: quem esgota o quantum volta ao final. É a mesma sequência do diagrama do enunciado.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1826896"/>
            <a:ext cx="5175250" cy="3347720"/>
          </a:xfrm>
          <a:prstGeom prst="roundRect">
            <a:avLst>
              <a:gd name="adj" fmla="val 2940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0480" y="2006600"/>
            <a:ext cx="496031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prioridade e aging</a:t>
            </a:r>
            <a:endParaRPr lang="en-US" sz="1800" dirty="0"/>
          </a:p>
        </p:txBody>
      </p:sp>
      <p:pic>
        <p:nvPicPr>
          <p:cNvPr id="10" name="Image 1" descr="Diagrama de Gantt do Round-Robin com prioridade e aging: P2, P1, P4, P3, P1, P3">    </p:cNvPr>
          <p:cNvPicPr>
            <a:picLocks noChangeAspect="1"/>
          </p:cNvPicPr>
          <p:nvPr/>
        </p:nvPicPr>
        <p:blipFill>
          <a:blip r:embed="rId2"/>
          <a:srcRect l="-19" r="-19" t="0" b="0"/>
          <a:stretch/>
        </p:blipFill>
        <p:spPr>
          <a:xfrm>
            <a:off x="6380480" y="2382521"/>
            <a:ext cx="4826000" cy="2012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0480" y="4497071"/>
            <a:ext cx="49603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cada quantum, quem espera ganha +1 de prioridade. Quem é escolhido volta à prioridade estática.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1 · Algoritmos de escalonamento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9864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DB8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MARCOS VINICIUS PEREIRA ARAUJO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55621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 de desempenho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48100"/>
            <a:ext cx="7848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Turnaround, tempo de espera e trocas de contexto.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7050" y="812800"/>
            <a:ext cx="19621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A3A5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 calculadas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26896"/>
            <a:ext cx="3380264" cy="2721610"/>
          </a:xfrm>
          <a:prstGeom prst="roundRect">
            <a:avLst>
              <a:gd name="adj" fmla="val 3616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0828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565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Turnaround (tt)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1880" y="2966721"/>
            <a:ext cx="2868454" cy="452120"/>
          </a:xfrm>
          <a:prstGeom prst="roundRect">
            <a:avLst>
              <a:gd name="adj" fmla="val 14045"/>
            </a:avLst>
          </a:prstGeom>
          <a:solidFill>
            <a:srgbClr val="EAE8E1"/>
          </a:solidFill>
          <a:ln/>
        </p:spPr>
        <p:txBody>
          <a:bodyPr wrap="square" lIns="108401" tIns="83001" rIns="29968" bIns="576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conclusão − criação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1880" y="3545842"/>
            <a:ext cx="29545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 de vida do processo, da criação ao término.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5789" y="1826896"/>
            <a:ext cx="3380343" cy="2721610"/>
          </a:xfrm>
          <a:prstGeom prst="roundRect">
            <a:avLst>
              <a:gd name="adj" fmla="val 3616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pic>
        <p:nvPicPr>
          <p:cNvPr id="10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694" y="208280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1694" y="2565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Espera (tw)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1694" y="2966721"/>
            <a:ext cx="2868533" cy="452120"/>
          </a:xfrm>
          <a:prstGeom prst="roundRect">
            <a:avLst>
              <a:gd name="adj" fmla="val 14045"/>
            </a:avLst>
          </a:prstGeom>
          <a:solidFill>
            <a:srgbClr val="EAE8E1"/>
          </a:solidFill>
          <a:ln/>
        </p:spPr>
        <p:txBody>
          <a:bodyPr wrap="square" lIns="108401" tIns="83001" rIns="29965" bIns="576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turnaround − duração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1694" y="3545842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 em que o processo estava pronto, mas fora da CPU.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95682" y="1826896"/>
            <a:ext cx="3380343" cy="2721610"/>
          </a:xfrm>
          <a:prstGeom prst="roundRect">
            <a:avLst>
              <a:gd name="adj" fmla="val 3616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pic>
        <p:nvPicPr>
          <p:cNvPr id="15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587" y="2082800"/>
            <a:ext cx="355600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51587" y="2565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Trocas de contexto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51587" y="2966721"/>
            <a:ext cx="2868533" cy="452120"/>
          </a:xfrm>
          <a:prstGeom prst="roundRect">
            <a:avLst>
              <a:gd name="adj" fmla="val 14045"/>
            </a:avLst>
          </a:prstGeom>
          <a:solidFill>
            <a:srgbClr val="EAE8E1"/>
          </a:solidFill>
          <a:ln/>
        </p:spPr>
        <p:txBody>
          <a:bodyPr wrap="square" lIns="108401" tIns="83001" rIns="29965" bIns="5760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 → Pb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51587" y="3545842"/>
            <a:ext cx="2954589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a substituição direta entre dois processos. Carga inicial e CPU ociosa não contam.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12800" y="48056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 e tw são médias sobre todos os processos, sem arredondamento interno; a saída mostra duas casas decimais.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Métricas de desempenho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de cálculo com o FCFS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03400" y="182372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78400" y="182372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18400" y="182372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141221"/>
            <a:ext cx="1270000" cy="533400"/>
          </a:xfrm>
          <a:prstGeom prst="rect">
            <a:avLst/>
          </a:prstGeom>
          <a:solidFill>
            <a:srgbClr val="D6272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09800" y="2141221"/>
            <a:ext cx="3175000" cy="533400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84800" y="2141221"/>
            <a:ext cx="2540000" cy="533400"/>
          </a:xfrm>
          <a:prstGeom prst="rect">
            <a:avLst/>
          </a:prstGeom>
          <a:solidFill>
            <a:srgbClr val="2CA02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24800" y="2141221"/>
            <a:ext cx="1905000" cy="533400"/>
          </a:xfrm>
          <a:prstGeom prst="rect">
            <a:avLst/>
          </a:prstGeom>
          <a:solidFill>
            <a:srgbClr val="9467B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7400" y="2763521"/>
            <a:ext cx="30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30400" y="276352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05400" y="276352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45400" y="276352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50400" y="276352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350896"/>
            <a:ext cx="5175250" cy="1294130"/>
          </a:xfrm>
          <a:prstGeom prst="roundRect">
            <a:avLst>
              <a:gd name="adj" fmla="val 76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480" y="35560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P3: criado em 1, dura 4, termina em 11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6480" y="3906521"/>
            <a:ext cx="4855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turnaround = 11 − 1 = 10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espera = 10 − 4 =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0775" y="3350896"/>
            <a:ext cx="5175250" cy="1294130"/>
          </a:xfrm>
          <a:prstGeom prst="roundRect">
            <a:avLst>
              <a:gd name="adj" fmla="val 7605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1280" y="355600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Médias dos quatro processos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31280" y="3906521"/>
            <a:ext cx="4855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tt = 7.50 · tw = 4.00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trocas de contexto =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Métricas de desempenho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 no exemplo do enunciado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33881"/>
          <a:ext cx="10556240" cy="3281680"/>
        </p:xfrm>
        <a:graphic>
          <a:graphicData uri="http://schemas.openxmlformats.org/drawingml/2006/table">
            <a:tbl>
              <a:tblPr/>
              <a:tblGrid>
                <a:gridCol w="4855870"/>
                <a:gridCol w="1900123"/>
                <a:gridCol w="1900123"/>
                <a:gridCol w="1900123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Algoritmo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tt médio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tw médio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Trocas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D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FCFS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7.50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SJF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6.75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SRTF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6.75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5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3.75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Prioridade preemptiva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3.50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Round-Robin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9.75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RR com prioridade e aging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7.75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4.25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695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negrito, os melhores tt e tw. O menor número de trocas (3) é compartilhado por FCFS, SJF, SRTF e prioridade.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Métricas de desempenho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Análise dos 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3721"/>
            <a:ext cx="3386614" cy="4018280"/>
          </a:xfrm>
          <a:prstGeom prst="roundRect">
            <a:avLst>
              <a:gd name="adj" fmla="val 3000"/>
            </a:avLst>
          </a:prstGeom>
          <a:solidFill>
            <a:srgbClr val="FCFCF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77721"/>
            <a:ext cx="29649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6.75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800" y="2814321"/>
            <a:ext cx="29649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SJF e SRTF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215642"/>
            <a:ext cx="296497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Menor turnaround médio. Executar primeiro os processos curtos reduz a espera dos demais.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1823721"/>
            <a:ext cx="3386693" cy="4018280"/>
          </a:xfrm>
          <a:prstGeom prst="roundRect">
            <a:avLst>
              <a:gd name="adj" fmla="val 3000"/>
            </a:avLst>
          </a:prstGeom>
          <a:solidFill>
            <a:srgbClr val="FCFCFA"/>
          </a:solidFill>
          <a:ln/>
        </p:spPr>
      </p:sp>
      <p:sp>
        <p:nvSpPr>
          <p:cNvPr id="9" name="Text 7"/>
          <p:cNvSpPr/>
          <p:nvPr/>
        </p:nvSpPr>
        <p:spPr>
          <a:xfrm>
            <a:off x="4656614" y="2077721"/>
            <a:ext cx="296505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A4520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56614" y="2814321"/>
            <a:ext cx="29650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Round-Robin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6614" y="3215642"/>
            <a:ext cx="296505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Reveza a CPU entre os processos, mas tem mais trocas de contexto e o maior turnaround (9.75).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07" y="1823721"/>
            <a:ext cx="3386693" cy="4018280"/>
          </a:xfrm>
          <a:prstGeom prst="roundRect">
            <a:avLst>
              <a:gd name="adj" fmla="val 3000"/>
            </a:avLst>
          </a:prstGeom>
          <a:solidFill>
            <a:srgbClr val="FCFC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46507" y="2077721"/>
            <a:ext cx="296505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F66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 = 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46507" y="2814321"/>
            <a:ext cx="29650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6507" y="3215642"/>
            <a:ext cx="296505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P3, de menor prioridade, recebe a CPU em t = 7. Nos algoritmos de prioridade sem aging, só em t = 10.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2 · Métricas de desempenho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98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DB8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VITOR NOGUEIRA DE SOUSA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55627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48100"/>
            <a:ext cx="9144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mesma simulação em uma janela, com os resultados de cada algoritmo.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7050" y="812800"/>
            <a:ext cx="196215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2A3A5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E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85342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2476500"/>
            <a:ext cx="31394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Tela principal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7832" y="3121658"/>
            <a:ext cx="3053588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Processos e configuração editáveis</a:t>
            </a:r>
            <a:endParaRPr lang="en-US" sz="1400" dirty="0"/>
          </a:p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aba de comparação e uma por algoritmo</a:t>
            </a:r>
            <a:endParaRPr lang="en-US" sz="1400" dirty="0"/>
          </a:p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com o exemplo do enunciado já simulado</a:t>
            </a:r>
            <a:endParaRPr lang="en-US" sz="1400" dirty="0"/>
          </a:p>
        </p:txBody>
      </p:sp>
      <p:pic>
        <p:nvPicPr>
          <p:cNvPr id="5" name="Image 0" descr="Tela principal do simulador com a aba Round-Robin aberta: tabela de processos à esquerda, métricas, diagrama de Gantt e resultado por processo à direita">    </p:cNvPr>
          <p:cNvPicPr>
            <a:picLocks noChangeAspect="1"/>
          </p:cNvPicPr>
          <p:nvPr/>
        </p:nvPicPr>
        <p:blipFill>
          <a:blip r:embed="rId1"/>
          <a:srcRect l="-87" r="-87" t="0" b="0"/>
          <a:stretch/>
        </p:blipFill>
        <p:spPr>
          <a:xfrm>
            <a:off x="3968750" y="949325"/>
            <a:ext cx="7607300" cy="4552950"/>
          </a:xfrm>
          <a:prstGeom prst="roundRect">
            <a:avLst>
              <a:gd name="adj" fmla="val 1534"/>
            </a:avLst>
          </a:prstGeom>
          <a:effectLst>
            <a:outerShdw sx="100000" sy="100000" kx="0" ky="0" algn="bl" rotWithShape="0" blurRad="304800" dist="101600" dir="5400000">
              <a:srgbClr val="172033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965575" y="946150"/>
            <a:ext cx="7613650" cy="4559300"/>
          </a:xfrm>
          <a:prstGeom prst="roundRect">
            <a:avLst>
              <a:gd name="adj" fmla="val 1602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616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 de processos e configuração</a:t>
            </a:r>
            <a:endParaRPr lang="en-US" sz="3200" dirty="0"/>
          </a:p>
        </p:txBody>
      </p:sp>
      <p:pic>
        <p:nvPicPr>
          <p:cNvPr id="4" name="Image 0" descr="Close da tabela de processos: P1 a P4 com criação, duração e prioridade">    </p:cNvPr>
          <p:cNvPicPr>
            <a:picLocks noChangeAspect="1"/>
          </p:cNvPicPr>
          <p:nvPr/>
        </p:nvPicPr>
        <p:blipFill>
          <a:blip r:embed="rId1"/>
          <a:srcRect l="-260" r="-260" t="0" b="0"/>
          <a:stretch/>
        </p:blipFill>
        <p:spPr>
          <a:xfrm>
            <a:off x="819150" y="1830077"/>
            <a:ext cx="3035300" cy="1625600"/>
          </a:xfrm>
          <a:prstGeom prst="roundRect">
            <a:avLst>
              <a:gd name="adj" fmla="val 3516"/>
            </a:avLst>
          </a:prstGeom>
          <a:effectLst>
            <a:outerShdw sx="100000" sy="100000" kx="0" ky="0" algn="bl" rotWithShape="0" blurRad="203200" dist="63500" dir="5400000">
              <a:srgbClr val="172033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826902"/>
            <a:ext cx="3041650" cy="1631950"/>
          </a:xfrm>
          <a:prstGeom prst="roundRect">
            <a:avLst>
              <a:gd name="adj" fmla="val 3696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pic>
        <p:nvPicPr>
          <p:cNvPr id="6" name="Image 1" descr="Close dos botões Adicionar, Remover, Exemplo do enunciado e Limpar, dos campos de quantum, aging e semente e do botão Simular">    </p:cNvPr>
          <p:cNvPicPr>
            <a:picLocks noChangeAspect="1"/>
          </p:cNvPicPr>
          <p:nvPr/>
        </p:nvPicPr>
        <p:blipFill>
          <a:blip r:embed="rId2"/>
          <a:srcRect l="-173" r="-173" t="0" b="0"/>
          <a:stretch/>
        </p:blipFill>
        <p:spPr>
          <a:xfrm>
            <a:off x="819150" y="3569977"/>
            <a:ext cx="3035300" cy="2070100"/>
          </a:xfrm>
          <a:prstGeom prst="roundRect">
            <a:avLst>
              <a:gd name="adj" fmla="val 2761"/>
            </a:avLst>
          </a:prstGeom>
          <a:effectLst>
            <a:outerShdw sx="100000" sy="100000" kx="0" ky="0" algn="bl" rotWithShape="0" blurRad="203200" dist="63500" dir="5400000">
              <a:srgbClr val="172033">
                <a:alpha val="14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815975" y="3566802"/>
            <a:ext cx="3041650" cy="2076450"/>
          </a:xfrm>
          <a:prstGeom prst="roundRect">
            <a:avLst>
              <a:gd name="adj" fmla="val 2905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219575" y="1826902"/>
            <a:ext cx="7156450" cy="1182370"/>
          </a:xfrm>
          <a:prstGeom prst="roundRect">
            <a:avLst>
              <a:gd name="adj" fmla="val 8324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24680" y="2006600"/>
            <a:ext cx="69486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 editável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424680" y="2331727"/>
            <a:ext cx="69486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Adicionar, remover, limpar ou recarregar o exemplo. Arquivos de processos e de configuração podem ser importados pelo menu.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19575" y="3168017"/>
            <a:ext cx="7156450" cy="1182370"/>
          </a:xfrm>
          <a:prstGeom prst="roundRect">
            <a:avLst>
              <a:gd name="adj" fmla="val 8324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24680" y="3347727"/>
            <a:ext cx="69486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validação do terminal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424680" y="3672842"/>
            <a:ext cx="694862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Duração zero ou prioridade negativa geram a mesma mensagem de erro da linha de comando.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19575" y="4509133"/>
            <a:ext cx="7156450" cy="933450"/>
          </a:xfrm>
          <a:prstGeom prst="roundRect">
            <a:avLst>
              <a:gd name="adj" fmla="val 10544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24680" y="4688842"/>
            <a:ext cx="69486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Semente fixa opcional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24680" y="5013958"/>
            <a:ext cx="6948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Torna os desempates aleatórios reproduzíveis, útil para repetir uma demonstração.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 de comparação</a:t>
            </a:r>
            <a:endParaRPr lang="en-US" sz="3200" dirty="0"/>
          </a:p>
        </p:txBody>
      </p:sp>
      <p:pic>
        <p:nvPicPr>
          <p:cNvPr id="4" name="Image 0" descr="Close da aba Comparação: tabela com tt, tw e trocas dos sete algoritmos, melhores valores em negrito, e gráfico de barras de turnaround e espera">    </p:cNvPr>
          <p:cNvPicPr>
            <a:picLocks noChangeAspect="1"/>
          </p:cNvPicPr>
          <p:nvPr/>
        </p:nvPicPr>
        <p:blipFill>
          <a:blip r:embed="rId1"/>
          <a:srcRect l="-81" r="-81" t="0" b="0"/>
          <a:stretch/>
        </p:blipFill>
        <p:spPr>
          <a:xfrm>
            <a:off x="819150" y="1830077"/>
            <a:ext cx="6464300" cy="3733800"/>
          </a:xfrm>
          <a:prstGeom prst="roundRect">
            <a:avLst>
              <a:gd name="adj" fmla="val 1531"/>
            </a:avLst>
          </a:prstGeom>
          <a:effectLst>
            <a:outerShdw sx="100000" sy="100000" kx="0" ky="0" algn="bl" rotWithShape="0" blurRad="203200" dist="63500" dir="5400000">
              <a:srgbClr val="172033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826902"/>
            <a:ext cx="6470650" cy="3740150"/>
          </a:xfrm>
          <a:prstGeom prst="roundRect">
            <a:avLst>
              <a:gd name="adj" fmla="val 1613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97775" y="1826902"/>
            <a:ext cx="3778250" cy="1182370"/>
          </a:xfrm>
          <a:prstGeom prst="roundRect">
            <a:avLst>
              <a:gd name="adj" fmla="val 8324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02880" y="2006600"/>
            <a:ext cx="346908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02880" y="2331727"/>
            <a:ext cx="346908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tt, tw e trocas de cada algoritmo; o melhor de cada coluna em negrito.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97775" y="3168017"/>
            <a:ext cx="3778250" cy="1182370"/>
          </a:xfrm>
          <a:prstGeom prst="roundRect">
            <a:avLst>
              <a:gd name="adj" fmla="val 8324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02880" y="3347727"/>
            <a:ext cx="346908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Gráfico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02880" y="3672842"/>
            <a:ext cx="346908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Barras de turnaround (azul) e espera (laranja) na mesma escala.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 de um algoritmo: Round-Robin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72927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Nome, regra do algoritmo e métricas em destaque</a:t>
            </a:r>
            <a:endParaRPr lang="en-US" sz="1200" dirty="0"/>
          </a:p>
        </p:txBody>
      </p:sp>
      <p:pic>
        <p:nvPicPr>
          <p:cNvPr id="5" name="Image 0" descr="Close do cabeçalho da aba Round-Robin: cartões com turnaround médio 9.75, espera média 6.25, 7 trocas de contexto e tempo total de 14 s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819150" y="2068835"/>
            <a:ext cx="10553700" cy="1041400"/>
          </a:xfrm>
          <a:prstGeom prst="roundRect">
            <a:avLst>
              <a:gd name="adj" fmla="val 5488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2065660"/>
            <a:ext cx="10560050" cy="1047750"/>
          </a:xfrm>
          <a:prstGeom prst="roundRect">
            <a:avLst>
              <a:gd name="adj" fmla="val 5758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331978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 por processo: conclusão, turnaround e espera</a:t>
            </a:r>
            <a:endParaRPr lang="en-US" sz="1200" dirty="0"/>
          </a:p>
        </p:txBody>
      </p:sp>
      <p:pic>
        <p:nvPicPr>
          <p:cNvPr id="8" name="Image 1" descr="Close da tabela de resultado por processo do Round-Robin: conclusões 13, 4, 12 e 1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05" y="3615692"/>
            <a:ext cx="1042639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975" y="3612517"/>
            <a:ext cx="10560050" cy="1149350"/>
          </a:xfrm>
          <a:prstGeom prst="roundRect">
            <a:avLst>
              <a:gd name="adj" fmla="val 5249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49682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sete abas têm o mesmo layout; muda apenas o algoritmo.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Diagrama de Gantt</a:t>
            </a:r>
            <a:endParaRPr lang="en-US" sz="3200" dirty="0"/>
          </a:p>
        </p:txBody>
      </p:sp>
      <p:pic>
        <p:nvPicPr>
          <p:cNvPr id="4" name="Image 0" descr="Close do diagrama de Gantt do Round-Robin completo, com os botões de exibição no topo, linhas P1 a P4, linha da CPU e legenda">    </p:cNvPr>
          <p:cNvPicPr>
            <a:picLocks noChangeAspect="1"/>
          </p:cNvPicPr>
          <p:nvPr/>
        </p:nvPicPr>
        <p:blipFill>
          <a:blip r:embed="rId1"/>
          <a:srcRect l="-226" r="-226" t="0" b="0"/>
          <a:stretch/>
        </p:blipFill>
        <p:spPr>
          <a:xfrm>
            <a:off x="819150" y="1804677"/>
            <a:ext cx="9893300" cy="2686050"/>
          </a:xfrm>
          <a:prstGeom prst="roundRect">
            <a:avLst>
              <a:gd name="adj" fmla="val 2128"/>
            </a:avLst>
          </a:prstGeom>
          <a:effectLst>
            <a:outerShdw sx="100000" sy="100000" kx="0" ky="0" algn="bl" rotWithShape="0" blurRad="203200" dist="63500" dir="5400000">
              <a:srgbClr val="172033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801502"/>
            <a:ext cx="9899650" cy="2692400"/>
          </a:xfrm>
          <a:prstGeom prst="roundRect">
            <a:avLst>
              <a:gd name="adj" fmla="val 2241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25677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 cheia:</a:t>
            </a: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executando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05200" y="4725677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Faixa cinza:</a:t>
            </a: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pronto, aguardando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97600" y="4725677"/>
            <a:ext cx="26924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Triângulo:</a:t>
            </a: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criação do processo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90000" y="4725677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branco:</a:t>
            </a: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não criado ou terminado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Execução passo a passo</a:t>
            </a:r>
            <a:endParaRPr lang="en-US" sz="3200" dirty="0"/>
          </a:p>
        </p:txBody>
      </p:sp>
      <p:pic>
        <p:nvPicPr>
          <p:cNvPr id="4" name="Image 0" descr="Close do diagrama do Round-Robin exibido até t = 9 de 14 s, com a linha vermelha em t = 9">    </p:cNvPr>
          <p:cNvPicPr>
            <a:picLocks noChangeAspect="1"/>
          </p:cNvPicPr>
          <p:nvPr/>
        </p:nvPicPr>
        <p:blipFill>
          <a:blip r:embed="rId1"/>
          <a:srcRect l="-190" r="-190" t="0" b="0"/>
          <a:stretch/>
        </p:blipFill>
        <p:spPr>
          <a:xfrm>
            <a:off x="819150" y="1804677"/>
            <a:ext cx="9893300" cy="2635250"/>
          </a:xfrm>
          <a:prstGeom prst="roundRect">
            <a:avLst>
              <a:gd name="adj" fmla="val 2169"/>
            </a:avLst>
          </a:prstGeom>
          <a:effectLst>
            <a:outerShdw sx="100000" sy="100000" kx="0" ky="0" algn="bl" rotWithShape="0" blurRad="203200" dist="63500" dir="5400000">
              <a:srgbClr val="172033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801502"/>
            <a:ext cx="9899650" cy="2641600"/>
          </a:xfrm>
          <a:prstGeom prst="roundRect">
            <a:avLst>
              <a:gd name="adj" fmla="val 2284"/>
            </a:avLst>
          </a:prstGeom>
          <a:noFill/>
          <a:ln w="6350">
            <a:solidFill>
              <a:srgbClr val="C9C5B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674877"/>
            <a:ext cx="348821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4987292"/>
            <a:ext cx="348821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 o diagrama até o segundo seguinte.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02614" y="4674877"/>
            <a:ext cx="348829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Reiniciar e Mostrar tudo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02614" y="4987292"/>
            <a:ext cx="348829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Voltam ao instante 0 ou exibem a execução completa.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92507" y="4674877"/>
            <a:ext cx="348829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Instante atual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92507" y="4987292"/>
            <a:ext cx="348829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Marcado pela linha vermelha e pelo contador t = 9 / 14 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GRÁFICA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Ligação com o simulador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2667"/>
            <a:ext cx="2392680" cy="808990"/>
          </a:xfrm>
          <a:prstGeom prst="roundRect">
            <a:avLst>
              <a:gd name="adj" fmla="val 10597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2426977"/>
            <a:ext cx="21465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0280" y="2721608"/>
            <a:ext cx="21465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tabela da janela ou stdin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88030" y="2588258"/>
            <a:ext cx="2794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46805" y="2272667"/>
            <a:ext cx="2392680" cy="808990"/>
          </a:xfrm>
          <a:prstGeom prst="roundRect">
            <a:avLst>
              <a:gd name="adj" fmla="val 10597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1110" y="2426977"/>
            <a:ext cx="21465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01110" y="2721608"/>
            <a:ext cx="21465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mesmos parsers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18860" y="2588258"/>
            <a:ext cx="2794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74460" y="2274577"/>
            <a:ext cx="2388870" cy="805180"/>
          </a:xfrm>
          <a:prstGeom prst="roundRect">
            <a:avLst>
              <a:gd name="adj" fmla="val 11041"/>
            </a:avLst>
          </a:prstGeom>
          <a:solidFill>
            <a:srgbClr val="1F66A8"/>
          </a:solidFill>
          <a:ln/>
        </p:spPr>
      </p:sp>
      <p:sp>
        <p:nvSpPr>
          <p:cNvPr id="13" name="Text 9"/>
          <p:cNvSpPr/>
          <p:nvPr/>
        </p:nvSpPr>
        <p:spPr>
          <a:xfrm>
            <a:off x="6626860" y="2426977"/>
            <a:ext cx="21465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Simulação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6860" y="2721608"/>
            <a:ext cx="214659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CE8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7 algoritmos + métricas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39530" y="2588258"/>
            <a:ext cx="279400" cy="177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298305" y="1877702"/>
            <a:ext cx="2077720" cy="745490"/>
          </a:xfrm>
          <a:prstGeom prst="roundRect">
            <a:avLst>
              <a:gd name="adj" fmla="val 11499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452610" y="2006600"/>
            <a:ext cx="18221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Saída textual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452610" y="2288542"/>
            <a:ext cx="1822183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98305" y="2731133"/>
            <a:ext cx="2077720" cy="745490"/>
          </a:xfrm>
          <a:prstGeom prst="roundRect">
            <a:avLst>
              <a:gd name="adj" fmla="val 11499"/>
            </a:avLst>
          </a:prstGeom>
          <a:solidFill>
            <a:srgbClr val="FCFCFA"/>
          </a:solidFill>
          <a:ln w="6350">
            <a:solidFill>
              <a:srgbClr val="D9D6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452610" y="2860042"/>
            <a:ext cx="182218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452610" y="3141985"/>
            <a:ext cx="192024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abas e diagrama de Gantt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12800" y="3784600"/>
            <a:ext cx="5181600" cy="853440"/>
          </a:xfrm>
          <a:prstGeom prst="roundRect">
            <a:avLst>
              <a:gd name="adj" fmla="val 10417"/>
            </a:avLst>
          </a:prstGeom>
          <a:solidFill>
            <a:srgbClr val="EAE8E1"/>
          </a:solidFill>
          <a:ln/>
        </p:spPr>
      </p:sp>
      <p:pic>
        <p:nvPicPr>
          <p:cNvPr id="23" name="Image 3" descr="Tool">    </p:cNvPr>
          <p:cNvPicPr>
            <a:picLocks noChangeAspect="1"/>
          </p:cNvPicPr>
          <p:nvPr/>
        </p:nvPicPr>
        <p:blipFill>
          <a:blip r:embed="rId4"/>
          <a:srcRect l="0" r="0" t="-153" b="-153"/>
          <a:stretch/>
        </p:blipFill>
        <p:spPr>
          <a:xfrm>
            <a:off x="1016000" y="4058927"/>
            <a:ext cx="284877" cy="304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27877" y="3962400"/>
            <a:ext cx="449422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Swing, que já vem no JDK 21: nenhuma dependência extra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197600" y="3784600"/>
            <a:ext cx="5181600" cy="853440"/>
          </a:xfrm>
          <a:prstGeom prst="roundRect">
            <a:avLst>
              <a:gd name="adj" fmla="val 10417"/>
            </a:avLst>
          </a:prstGeom>
          <a:solidFill>
            <a:srgbClr val="EAE8E1"/>
          </a:solidFill>
          <a:ln/>
        </p:spPr>
      </p:sp>
      <p:pic>
        <p:nvPicPr>
          <p:cNvPr id="26" name="Image 4" descr="CheckCircle">    </p:cNvPr>
          <p:cNvPicPr>
            <a:picLocks noChangeAspect="1"/>
          </p:cNvPicPr>
          <p:nvPr/>
        </p:nvPicPr>
        <p:blipFill>
          <a:blip r:embed="rId5"/>
          <a:srcRect l="-523" r="-523" t="0" b="0"/>
          <a:stretch/>
        </p:blipFill>
        <p:spPr>
          <a:xfrm>
            <a:off x="6400800" y="4058927"/>
            <a:ext cx="275908" cy="304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03708" y="3962400"/>
            <a:ext cx="450346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e interface mostram sempre os mesmos resultados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3 · Interface gráfica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DB8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 EXECUTAR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58"/>
            <a:ext cx="10566400" cy="873760"/>
          </a:xfrm>
          <a:prstGeom prst="roundRect">
            <a:avLst>
              <a:gd name="adj" fmla="val 8721"/>
            </a:avLst>
          </a:prstGeom>
          <a:solidFill>
            <a:srgbClr val="22304A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./gradlew -q run --args="config.txt" &lt; processos.txt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./gradlew runGui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2047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Requisito: JDK 21. Código, documento técnico e decisões registradas estão no repositório.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35941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12800" y="4335785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2D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Marcos Vinicius Pereira Araujo · Tiago Melo Jucá · Vitor Nogueira de Sousa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ulador de Escalonamento de Processos">
  <a:themeElements>
    <a:clrScheme name="Simulador de Escalonamento de Processos">
      <a:dk1>
        <a:srgbClr val="172033"/>
      </a:dk1>
      <a:lt1>
        <a:srgbClr val="F5F4EF"/>
      </a:lt1>
      <a:dk2>
        <a:srgbClr val="4F5562"/>
      </a:dk2>
      <a:lt2>
        <a:srgbClr val="DFDFDC"/>
      </a:lt2>
      <a:accent1>
        <a:srgbClr val="A4520B"/>
      </a:accent1>
      <a:accent2>
        <a:srgbClr val="1F66A8"/>
      </a:accent2>
      <a:accent3>
        <a:srgbClr val="8DB8E6"/>
      </a:accent3>
      <a:accent4>
        <a:srgbClr val="1F77B4"/>
      </a:accent4>
      <a:accent5>
        <a:srgbClr val="2CA02C"/>
      </a:accent5>
      <a:accent6>
        <a:srgbClr val="9467BD"/>
      </a:accent6>
      <a:hlink>
        <a:srgbClr val="0563C1"/>
      </a:hlink>
      <a:folHlink>
        <a:srgbClr val="954F72"/>
      </a:folHlink>
    </a:clrScheme>
    <a:fontScheme name="Simulador de Escalonamento de Processos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Escalonamento de Processos</dc:title>
  <dc:subject/>
  <dc:creator/>
  <cp:lastModifiedBy/>
  <cp:revision>1</cp:revision>
  <dcterms:created xsi:type="dcterms:W3CDTF">2026-09-30T22:22:47Z</dcterms:created>
  <dcterms:modified xsi:type="dcterms:W3CDTF">2026-09-30T22:22:47Z</dcterms:modified>
</cp:coreProperties>
</file>